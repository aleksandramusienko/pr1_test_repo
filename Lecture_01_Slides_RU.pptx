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cost factor</c:v>
                </c:pt>
              </c:strCache>
            </c:strRef>
          </c:tx>
          <c:spPr>
            <a:solidFill>
              <a:srgbClr val="C0504D"/>
            </a:solidFill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Requirements</c:v>
                  </c:pt>
                  <c:pt idx="1">
                    <c:v>Design</c:v>
                  </c:pt>
                  <c:pt idx="2">
                    <c:v>Implementation</c:v>
                  </c:pt>
                  <c:pt idx="3">
                    <c:v>Testing</c:v>
                  </c:pt>
                  <c:pt idx="4">
                    <c:v>Production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30</c:v>
                </c:pt>
                <c:pt idx="4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Project stage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Relative cost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Opening: explain that architecture is about significant decisions, not pretty diagrams.
[Sources]
- https://www.iso-architecture.org/ieee-1471/defining-architecture.html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we are building the foundation for later lectures (views, ADR, API contracts, DevOps).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Use a simple test: if changing it requires coordination across teams OR data migration OR re‑thinking operations, it is architectural.
[Sources]
- https://www.iso-architecture.org/ieee-1471/defining-architecture.html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Say “illustrative”: do not defend exact multipliers; defend the idea that late fixes ripple.
[Sources]
- https://www.richard-banks.org/2013/04/why-short-feedback-cycle-is-good-thing.html
- https://www.techwell.com/techwell-insights/2013/10/what-does-it-really-cost-fix-software-defect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one local example: choosing a shared database vs per‑module schema is architectural.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tooling choices matter only when they affect these drivers (data/integration/security/ops).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that microservices is often a solution/operations decision (team &amp; deployment), not just a code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Stress: this is a context view (what is around), not internal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point: a single “one true diagram” does not exist; choose views by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concerns often conflict: e.g., strict security vs frictionless UX, speed vs cost, consistency vs availability.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Canvas: it is a one-page artifact to align expectations before drawing diagrams.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the Canvas is “pre-architecture”. It prevents premature microservices discussions.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how decisions will follow: caching for schedule, async integration with finance, RBAC &amp;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Introduce ISO 25010 as a reference model for quality characteristics; do not memorize — use to structure discussion.
[Sources]
- https://www.iso.org/obp/ui/en/
- https://quality.arc42.org/standards/iso-25010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p95 briefly if needed. Encourage students to write scenarios for 2–3 qualities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students are new: define p95 as “95% of requests are faster than X”.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idea concrete: you do not need 100% availability everywhere; you need a user-safe behavior under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Remind: choose a few tactics that directly support your measured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“Which trade-off is most painful in your domain?” Use a few student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cost-of-change: earlier validation = cheaper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positive: architecture is small &amp; continuous when done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around and nudge: “Add numbers. Add environment. Add failure mode.”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Lecture 2: “Now we know what to document and why.”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Close the lecture. Next time: create C4 context view and start writing ADRs.
[Sources]
- https://www.iso-architecture.org/ieee-1471/defining-architecture.html
- https://www.iso.org/obp/ui/en/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94415" cy="3931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0F2A4D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05840" y="192024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информационных систем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 — зачем нужна архитектура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 и архитектурные драйверы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397764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занятия: архитектурный бриф (1–2 стр.) + измеримые цели по качеству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(90 минут)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Перейдём от «хотелок» к измеримым драйверам.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947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503514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лекции вы сможете: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Объяснить, что такое архитектура на практике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Выделить стейкхолдеров и их вопросы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Сформулировать архитектурные драйверы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Записать 2–3 измеримых сценария качества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8728" y="1783080"/>
            <a:ext cx="109728" cy="2011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47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9896" y="2313432"/>
            <a:ext cx="503514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Что такое архитектура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Стейкхолдеры и вопросы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Канва драйверов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Сценарии качества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Мини‑воркшоп: архитектурный бриф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441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09728" cy="2468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414223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кейс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4507992"/>
            <a:ext cx="10765231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«Кампус‑сервис»: расписание, заявки, уведомления.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Интеграции: SSO/IAM, LMS, финансы, библиотека.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Будем возвращаться к нему, чтобы увидеть, как драйверы превращаются в решения.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= значимые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«картинки», а решения, которые дорого менять.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417320"/>
          </a:xfrm>
          <a:prstGeom prst="roundRect">
            <a:avLst/>
          </a:prstGeom>
          <a:solidFill>
            <a:srgbClr val="E6F6F4"/>
          </a:solidFill>
          <a:ln w="254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2011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определение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— фундаментальная организация системы: её элементы,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 связи и принципы, которые направляют проектирование и развитие.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36432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3520440"/>
            <a:ext cx="109728" cy="2880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36850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«Значимое» означает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4050792"/>
            <a:ext cx="503514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Позднее менять дорого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Влияет на несколько частей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Задает скорость/безопасность/доступность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Влияет на работу команды и эксплуатацию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3520440"/>
            <a:ext cx="5364328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78728" y="3520440"/>
            <a:ext cx="109728" cy="28803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9896" y="36850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— это ещё и коммуникация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9896" y="4050792"/>
            <a:ext cx="5035144" cy="2221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система — разные вопросы: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Бизнес: риски и стоимость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Разработка: границы и контракты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Эксплуатация: деплой и восстановление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ИБ: угрозы и доступ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важны ранние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изменений обычно растёт по ходу жизненного цикла (иллюстрация).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69480" y="1874520"/>
            <a:ext cx="4373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269480" y="1874520"/>
            <a:ext cx="10972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470648" y="2039112"/>
            <a:ext cx="40443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читать график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70648" y="2404872"/>
            <a:ext cx="4044391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Точные числа отличаются.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закономерность стабильна: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поздние изменения затрагивают больше артефактов (код, тесты, данные, эксплуатацию).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269480" y="3886200"/>
            <a:ext cx="4373575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269480" y="3886200"/>
            <a:ext cx="109728" cy="1828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470648" y="4050792"/>
            <a:ext cx="404439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470648" y="4416552"/>
            <a:ext cx="4044391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Выявляйте ключевые риски заранее: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границы и владение данными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стиль интеграций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модель безопасности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деплой и восстановление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5897880"/>
            <a:ext cx="489204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713232" y="5952744"/>
            <a:ext cx="45628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снижает риск дорогих сюрпризов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решения — «архитектурные»?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эти фильтры, прежде чем тратить время на документацию.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Дорого менять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Миграции данных, внешние контракты, изменения инфраструктуры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87452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38218" y="1874520"/>
            <a:ext cx="10972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39386" y="203911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влияние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39386" y="240487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Затрагивает несколько модулей/команд/вопросов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87452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27797" y="1874520"/>
            <a:ext cx="109728" cy="1554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28965" y="203911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откатить позже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8965" y="240487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Почти не откатывается, когда пользователи привыкли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09728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49808" y="39136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Несёт риск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427939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сильно бьёт по бизнесу или безопасности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8218" y="374904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38218" y="3749040"/>
            <a:ext cx="109728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39386" y="39136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Задает рамки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39386" y="427939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Определяет, что будет возможно дальше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7797" y="3749040"/>
            <a:ext cx="3515258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127797" y="3749040"/>
            <a:ext cx="109728" cy="1554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28965" y="39136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из альтернатив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8965" y="4279392"/>
            <a:ext cx="318607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Были реальные варианты с компромиссами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 значимых решений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Чаще всего это не про «фреймворки».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консистентность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vs NoSQL, схема, миграции, владение данными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8728" y="18745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20391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Стиль интеграций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9896" y="24048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Синхр. API vs асинхр. события, ретраи, идемпотентность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4747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безопасности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40050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роли, аудит, управление секретами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34747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8728" y="34747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выполнения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9896" y="40050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Монолит / модульный монолит / микросервисы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52395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Поставка и эксплуатация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56052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blue‑green, наблюдаемость, бэкапы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78728" y="5074920"/>
            <a:ext cx="5364328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78728" y="50749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52395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Паттерны устойчивости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9896" y="5605272"/>
            <a:ext cx="503514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таймауты, bulkheads, очереди, деградация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архитектуры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слово используют на разных «масштабах».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11680"/>
            <a:ext cx="1188720" cy="96012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031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48840" y="2011680"/>
            <a:ext cx="92656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Предприятие / ландшафт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2350008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системы поддерживают организацию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8840" y="2770632"/>
            <a:ext cx="9265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Процессы, карта систем, владение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94415" cy="1298448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3547872"/>
            <a:ext cx="1188720" cy="96012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77240" y="3639312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148840" y="3547872"/>
            <a:ext cx="92656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решения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48840" y="3886200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и интеграции с другими системами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48840" y="4306824"/>
            <a:ext cx="9265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события, потоки данных, SLA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855464"/>
            <a:ext cx="11094415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" y="5084064"/>
            <a:ext cx="1188720" cy="96012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240" y="5175504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148840" y="5084064"/>
            <a:ext cx="92656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ПО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48840" y="5422392"/>
            <a:ext cx="92656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Внутренние модули, паттерны, структура кода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48840" y="5843016"/>
            <a:ext cx="92656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Границы, интерфейсы, тестирование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кейс: портал «Кампус‑сервис»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пример для решений и компромиссов.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2880360"/>
            <a:ext cx="3108960" cy="1371600"/>
          </a:xfrm>
          <a:prstGeom prst="roundRect">
            <a:avLst/>
          </a:prstGeom>
          <a:solidFill>
            <a:srgbClr val="E6F6F4"/>
          </a:solidFill>
          <a:ln w="254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434840" y="30632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Кампус‑сервис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19933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475488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A5E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49194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31375" y="173736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77095" y="190195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/ IAM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31375" y="315468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77095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31375" y="457200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77095" y="47365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85455" y="548640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031175" y="5650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5486400"/>
            <a:ext cx="20116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03320" y="565099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26080" y="2157984"/>
            <a:ext cx="1508760" cy="1088136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60420" y="250088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926080" y="5084064"/>
            <a:ext cx="1508760" cy="-119786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360420" y="428396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31375" y="2066544"/>
            <a:ext cx="-2087575" cy="1179576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67548" y="245516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31375" y="3483864"/>
            <a:ext cx="-2087575" cy="128016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267548" y="334670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31375" y="4901184"/>
            <a:ext cx="-2087575" cy="-101498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67548" y="419252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платежи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34095" y="5815584"/>
            <a:ext cx="-1676095" cy="-151790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76008" y="485546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долги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5815584"/>
            <a:ext cx="685800" cy="-1517904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686300" y="4855464"/>
            <a:ext cx="731520" cy="2743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шлёт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Стейкхолдеры: кто и зачем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нужна, чтобы отвечать на их вопросы.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74920" y="2788920"/>
            <a:ext cx="2057400" cy="1143000"/>
          </a:xfrm>
          <a:prstGeom prst="roundRect">
            <a:avLst/>
          </a:prstGeom>
          <a:solidFill>
            <a:srgbClr val="E6F6F4"/>
          </a:solidFill>
          <a:ln w="254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74920" y="3127248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0" y="169164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1856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Бизнес‑владелец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22860" cy="4572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60120" y="233172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5156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2971800"/>
            <a:ext cx="3817620" cy="-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60120" y="425196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51560" y="4416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286000" y="4892040"/>
            <a:ext cx="3817620" cy="-2103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961120" y="233172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052560" y="24963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 / SRE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87000" y="2971800"/>
            <a:ext cx="-4183380" cy="-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961120" y="425196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052560" y="4416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287000" y="4892040"/>
            <a:ext cx="-4183380" cy="-2103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754880" y="5440680"/>
            <a:ext cx="2651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46320" y="56052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Интеграторы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80760" y="6080760"/>
            <a:ext cx="22860" cy="-32918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8640" y="6263640"/>
            <a:ext cx="670255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13232" y="6318504"/>
            <a:ext cx="6373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роли задают разные вопросы → нужны разные представления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вопросы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вопросы, чтобы понимать, что документировать.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658368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9659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Стейкхолдер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1965960"/>
            <a:ext cx="7939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вопросы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551176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Какова цена задержки? Какие риски могут сорвать поставку?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99816"/>
            <a:ext cx="110944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2644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209544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Быстро? понятно? доступно? что происходит при сбоях?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227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3867912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границы? как тестируем? как безопасно менять?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110944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45811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Эксплуатация / SRE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526280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деплоим, наблюдаем, масштабируем, восстанавливаем?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9441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7240" y="52395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5184648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что может? как аудитируем? какие сценарии угроз?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733288"/>
            <a:ext cx="11094415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7240" y="5897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Интеграторы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74720" y="5843016"/>
            <a:ext cx="7939735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стабильные контракты (API/события)? версионирование? SLA?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Архитектурные драйверы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Драйверы — силы, которые формируют ключевые решения.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4173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Откуда берутся драйверы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Цели бизнеса (выход на рынок, стоимость, комплаенс)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Ключевые сценарии (критические пути пользователя)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Атрибуты качества (скорость, доступность, безопасность…)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Ограничения (бюджет, навыки, стек, регуляторика)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51525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Хороший драйвер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050792"/>
            <a:ext cx="318607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Конкретный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Измеримый (или проверяемый)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 с риском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Разделяется стейкхолдерами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3520440"/>
            <a:ext cx="351525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38218" y="3520440"/>
            <a:ext cx="109728" cy="2377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39386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Слабый драйвер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9386" y="4050792"/>
            <a:ext cx="318607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Размытый («быстро», «безопасно»)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сценария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масштаба/нагрузки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критериев приёмки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3520440"/>
            <a:ext cx="3515258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27797" y="3520440"/>
            <a:ext cx="109728" cy="2377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28965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Ваша задача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8965" y="4050792"/>
            <a:ext cx="3186074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Преобразуйте слабые драйверы 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качества 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проверки (тесты, прототипы).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Канва драйверов (шаблон)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страница, чтобы согласовать границы, цели, качество и ограничения.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2057400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77240" y="2057400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78408" y="2221992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системы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587752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7288" y="2057400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187288" y="2057400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88456" y="2221992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Качества (4–6)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8456" y="2587752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" y="2999232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77240" y="2999232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78408" y="3163824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+ метрики успеха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8408" y="3529584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87288" y="2999232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187288" y="2999232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88456" y="3163824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8456" y="3529584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3941064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" y="3941064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8408" y="4105656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сценарии (3–5)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78408" y="4471416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7288" y="3941064"/>
            <a:ext cx="5227168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87288" y="3941064"/>
            <a:ext cx="109728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88456" y="4105656"/>
            <a:ext cx="48979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 / неизвестности + проверка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88456" y="4471416"/>
            <a:ext cx="4897984" cy="118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6172200"/>
            <a:ext cx="660196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13232" y="6227064"/>
            <a:ext cx="6272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Совет: если не помещается на одной странице — границы неясны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Канва драйверов (пример)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«Кампус‑сервис» — кратко.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76072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5431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бизнеса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431536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Сократить очереди в студ. сервисах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Единая точка входа для задач кампуса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Соответствие политике ПДн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Успех: 80% заявок через портал; p95 расписания &lt; 300 мс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874520"/>
            <a:ext cx="50136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629400" y="1874520"/>
            <a:ext cx="109728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30568" y="2039112"/>
            <a:ext cx="468447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30568" y="2404872"/>
            <a:ext cx="4684471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Интеграция с наследственной финсистемой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Используем университетское SSO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Небольшая команда (6 разработчиков)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Запуск до начала семестра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76072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09728" cy="20574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4416552"/>
            <a:ext cx="54315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сценарии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4782312"/>
            <a:ext cx="5431536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Студент открывает расписание в пик (8:00–9:00)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Сотрудник согласует заявку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Статус платежа из финсистемы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Доставка уведомлений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29400" y="4251960"/>
            <a:ext cx="501365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29400" y="4251960"/>
            <a:ext cx="109728" cy="2057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30568" y="4416552"/>
            <a:ext cx="468447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Топ‑риски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30568" y="4782312"/>
            <a:ext cx="4684471" cy="1399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Финсистема нестабильна → нужна деградация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Пики нагрузки в начале семестра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Ошибки доступа (роли) → нужен аудит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Атрибуты качества (что значит «хорошо»)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Используйте общий словарь — затем сделайте его измеримым.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83080"/>
            <a:ext cx="10972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1947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31343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Задержка, пропускная способность, ресурсы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78308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8728" y="1783080"/>
            <a:ext cx="109728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1947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9896" y="231343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Доступность, устойчивость к сбоям, восстановление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3063240"/>
            <a:ext cx="10972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2278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359359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Конфиденциальность, целостность, аудит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306324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8728" y="3063240"/>
            <a:ext cx="109728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32278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Сопровождаемость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9896" y="359359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Изменяемость, тестируемость, простота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4343400"/>
            <a:ext cx="109728" cy="114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450799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Совместимость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" y="487375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Интероперабельность, сосуществование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78728" y="4343400"/>
            <a:ext cx="5364328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78728" y="4343400"/>
            <a:ext cx="109728" cy="11430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79896" y="450799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Удобство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79896" y="4873752"/>
            <a:ext cx="5035144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Обучаемость, доступность (a11y)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897880"/>
            <a:ext cx="7808976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13232" y="5952744"/>
            <a:ext cx="74797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«быстро / безопасно / надёжно» → перепишите как сценарий с числами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сценария качества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Превратите абстрактные качества в проверяемые требования.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237744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148840"/>
            <a:ext cx="102714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→ Стимул → Среда → Артефакт → Реакция → Метрика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788920"/>
            <a:ext cx="999713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Пример: «В пиковую нагрузку (среда) студент (источник) открывает расписание (стимул).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Портал (артефакт) отвечает быстрее 300 мс на p95 (метрика).»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36432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4526280"/>
            <a:ext cx="109728" cy="1874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46908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формат работает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" y="5056632"/>
            <a:ext cx="503514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Заставляет уточнять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Позволяет тестировать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Показывает компромиссы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Делает «готово» измеримым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78728" y="4526280"/>
            <a:ext cx="5364328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278728" y="4526280"/>
            <a:ext cx="109728" cy="18745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79896" y="46908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Типичные ошибки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79896" y="5056632"/>
            <a:ext cx="503514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среды («когда?»)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Нет метрики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Смешали несколько качеств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Не привязано к сценарию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сценария: производительность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Кампус‑сервис — просмотр расписания.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пик 8:00–9:00, 200 запросов/с читают данные расписания.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возвращается &lt; 300 мс на p95 и &lt; 1 с на p99.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36432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474720"/>
            <a:ext cx="10972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проектировать под это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503514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Тактики: кэш, индексы, пагинация, CDN для статики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Проверка: нагрузочный тест + дашборды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Следить: инвалидирование кэша + ожидания консистентности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3474720"/>
            <a:ext cx="536432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78728" y="3474720"/>
            <a:ext cx="10972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9896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проверить заранее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9896" y="4005072"/>
            <a:ext cx="503514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Прототип: планы запросов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Цель по доле попаданий в кэш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p95/p99 дашборды на стенде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сценария: доступность и восстановление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происходит, когда зависимости падают?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3716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финсистема недоступна до 30 минут, портал остаётся работоспособным.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платежа — «в обработке» и обновляется позже.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Цели: доступность 99,5%/мес; RTO 30 мин; RPO 5 мин.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536432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474720"/>
            <a:ext cx="10972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005072"/>
            <a:ext cx="503514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Асинхронная интеграция через очередь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Ретраи с backoff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Таймауты + circuit breaker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Деградированный режим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3474720"/>
            <a:ext cx="536432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78728" y="3474720"/>
            <a:ext cx="10972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9896" y="36393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9896" y="4005072"/>
            <a:ext cx="503514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Chaos‑тест: отключить финсистему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Проверить переигрывание очереди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Runbook: восстановить и подтвердить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качеств — к тактикам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Небольшой набор приёмов лучше, чем гадания.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77724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Атрибут качества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11880" y="2103120"/>
            <a:ext cx="79397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Типовые тактики (примеры)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880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Производительность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798064"/>
            <a:ext cx="7939735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Кэш, load shedding, асинхронная работа, индексы БД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1109441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7724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575304"/>
            <a:ext cx="7939735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Резервирование, health checks, автоскейлинг, деградация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1109441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4352544"/>
            <a:ext cx="7939735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минимум прав, аудит, секреты, rate limiting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94415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7240" y="5212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Сопровождаемость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5129784"/>
            <a:ext cx="7939735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Модульные границы, контракты, CI‑тесты, ADR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84124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13232" y="6044184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Тактики — не «стиль архитектуры». Это кирпичики для драйверов.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Компромиссы — это нормально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управляет конкурирующими требованиями.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6432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2011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↔ удобство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03514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проверок (MFA, согласования) повышает защиту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…но добавляет трение.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Усиливайте контроль для рискованных действий, не для всего.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8728" y="1874520"/>
            <a:ext cx="5364328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278728" y="1874520"/>
            <a:ext cx="109728" cy="20116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79896" y="203911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Согласованность ↔ доступность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79896" y="2404872"/>
            <a:ext cx="5035144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Сильная консистентность может снижать доступность.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многих процессах приемлема eventual consistency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UI честно показывает состояние.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36432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0972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4233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↔ стоимость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4599432"/>
            <a:ext cx="503514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Оверинжиниринг дорожает и замедляет поставку.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Начинайте с минимальной архитектуры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которая закрывает ключевые драйверы.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78728" y="4069080"/>
            <a:ext cx="536432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78728" y="4069080"/>
            <a:ext cx="109728" cy="2240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79896" y="423367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Автономность ↔ координация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9896" y="4599432"/>
            <a:ext cx="503514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Микросервисы повышают автономность команд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…но требуют зрелости в CI/CD, наблюдаемости и эксплуатации.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итеративна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 → решение → проверка → документация.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0" y="2057400"/>
            <a:ext cx="2331720" cy="1005840"/>
          </a:xfrm>
          <a:prstGeom prst="round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749040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(драйвер)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720840" y="2057400"/>
            <a:ext cx="2331720" cy="100584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812280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(ADR)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720840" y="3931920"/>
            <a:ext cx="2331720" cy="100584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40690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(тест / прототип)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0" y="3931920"/>
            <a:ext cx="2331720" cy="1005840"/>
          </a:xfrm>
          <a:prstGeom prst="round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38100" dist="15240" dir="2700000">
              <a:srgbClr val="000000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49040" y="40690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Обновить документы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планы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89320" y="2560320"/>
            <a:ext cx="7315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886700" y="3063240"/>
            <a:ext cx="0" cy="8686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720840" y="4434840"/>
            <a:ext cx="-731520" cy="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823460" y="3931920"/>
            <a:ext cx="0" cy="-868680"/>
          </a:xfrm>
          <a:prstGeom prst="line">
            <a:avLst/>
          </a:prstGeom>
          <a:noFill/>
          <a:ln w="38100">
            <a:solidFill>
              <a:srgbClr val="94A3B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5989320"/>
            <a:ext cx="609904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13232" y="6044184"/>
            <a:ext cx="5769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проверяйте рискованные решения рано и дёшево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анти‑паттерны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Архитектура, которая выглядит красиво, но проваливается в практике.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27288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965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494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«Большой дизайн заранее»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49437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Месяцы диаграмм без измеримых драйверов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быстрее построили не то.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70168" y="1874520"/>
            <a:ext cx="527288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370168" y="1874520"/>
            <a:ext cx="109728" cy="1965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71336" y="2039112"/>
            <a:ext cx="494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«Микросервисы потому что модно»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71336" y="2404872"/>
            <a:ext cx="494370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Операционная сложность без необходимости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медленнее поставка, больше инцидентов.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2728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4069080"/>
            <a:ext cx="10972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4233672"/>
            <a:ext cx="494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«Качество потом»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9808" y="4599432"/>
            <a:ext cx="494370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Безопасность/скорость оставлены на финальное тестирование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поздние сюрпризы и переделки.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70168" y="4069080"/>
            <a:ext cx="527288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70168" y="4069080"/>
            <a:ext cx="10972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571336" y="4233672"/>
            <a:ext cx="494370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«Нет владельцев»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71336" y="4599432"/>
            <a:ext cx="4943704" cy="1581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Непонятно, кто владеет данными и компонентами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запутанные зависимости и перекладывание вины.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Мини‑воркшоп (10–12 мин)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архитектурный бриф для выбранной системы.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парах: заполните канву драйверов и сформулируйте 2 измеримых сценария качества.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взять «Кампус‑сервис» или свою систему.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351525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" cy="2743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050792"/>
            <a:ext cx="318607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Определите границу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Что внутри/снаружи?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Какие внешние системы?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Кто пользуется?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3520440"/>
            <a:ext cx="351525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38218" y="3520440"/>
            <a:ext cx="10972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39386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39386" y="4050792"/>
            <a:ext cx="318607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 сценарии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ключевых потоков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случай отказа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нагрузка/пики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3520440"/>
            <a:ext cx="351525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127797" y="3520440"/>
            <a:ext cx="109728" cy="2743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328965" y="3685032"/>
            <a:ext cx="318607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8965" y="4050792"/>
            <a:ext cx="3186074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Сделайте качество измеримым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p95 задержка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доступность/SLO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цели восстановления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Архитектурный бриф: чеклист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это есть — вы готовы к диаграммам.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42976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брифе должно быть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Граница системы + основные пользователи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Топ 2–3 цели бизнеса + метрики успеха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3–5 ключевых сценариев (минимум один — со сбоем)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измеримых цели качества (скорость/доступность/безопасность)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Ограничения (срок, стек, комплаенс, команда)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Топ‑риски / неизвестности + как проверить рано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309360"/>
            <a:ext cx="841248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13232" y="6364224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превратим это в представления (C4) и ADR.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1792"/>
            <a:ext cx="11094415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Сдайте бриф, который сможет вести команду.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441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49808" y="2039112"/>
            <a:ext cx="1076523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сдаём (1–2 страницы)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10765231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Канва драйверов / архитектурный бриф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3–5 сценариев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2 измеримых цели качества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Ограничения + топ‑риски + план проверки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536432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48640" y="3977640"/>
            <a:ext cx="109728" cy="21031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41422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Оценивание (простая рубрика)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" y="4507992"/>
            <a:ext cx="50351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Конкретно, без воды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Измеримые цели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Решения связаны с драйверами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Риски учтены + есть проверка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3977640"/>
            <a:ext cx="5364328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78728" y="3977640"/>
            <a:ext cx="109728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79896" y="4142232"/>
            <a:ext cx="5035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чтение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9896" y="4507992"/>
            <a:ext cx="503514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ISO/IEC/IEEE 42010 (описание архитектуры)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 (модель качества)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0" y="0"/>
            <a:ext cx="12191695" cy="43891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48640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01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095848" y="109728"/>
            <a:ext cx="5547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ИС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F3F5F7"/>
          </a:solidFill>
          <a:ln w="12700">
            <a:solidFill>
              <a:srgbClr val="F3F5F7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820095" y="665683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Course pack (rebuilt)</dc:creator>
  <cp:lastModifiedBy>Course pack (rebuilt)</cp:lastModifiedBy>
  <cp:revision>1</cp:revision>
  <dcterms:created xsi:type="dcterms:W3CDTF">2026-02-10T19:02:35Z</dcterms:created>
  <dcterms:modified xsi:type="dcterms:W3CDTF">2026-02-10T19:02:35Z</dcterms:modified>
</cp:coreProperties>
</file>